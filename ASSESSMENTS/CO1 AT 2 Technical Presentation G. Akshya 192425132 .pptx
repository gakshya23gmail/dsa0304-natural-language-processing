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embeddedFontLst>
    <p:embeddedFont>
      <p:font typeface="Azeret Mono Medium" panose="020B0604020202020204" charset="0"/>
      <p:regular r:id="rId11"/>
    </p:embeddedFont>
    <p:embeddedFont>
      <p:font typeface="Azeret Mono Semi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Krona One" panose="020B0604020202020204" charset="0"/>
      <p:regular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Bold" panose="020B0806030504020204" charset="0"/>
      <p:regular r:id="rId22"/>
    </p:embeddedFont>
    <p:embeddedFont>
      <p:font typeface="Open Sans SemiBold" panose="020B0706030804020204" pitchFamily="34" charset="0"/>
      <p:regular r:id="rId23"/>
      <p:bold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172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morphology as the study of how words are built and changed. The deck moves from morphemes and word formation to analysis, NLP pipelines, finite-state models, and one detailed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unhappiness as the running example. Each part contributes structure and meaning, and together the parts explain how the word relates to other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from the outside inward. Identify the pieces, locate the root, and then use the decomposition to analyze linguistic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morphology is not an isolated linguistic exercise. The output becomes structured information that downstream NLP systems can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diagram to separate recognition from transformation. An FSA checks patterns; an FST maps between representations. Stemming and lemmatization provide two different normalization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morpheme, then compare the same analytical move on cats, played, and teacher. The value for NLP is the connection between related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technical tools to the larger goal: accurate word analysis supports better language understanding, while irregularity, ambiguity, language-specific rules, and rich morphology keep the problem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39391" y="1263900"/>
            <a:ext cx="8141867" cy="22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kern="100" spc="-108" dirty="0">
                <a:solidFill>
                  <a:srgbClr val="FFFFFF"/>
                </a:solidFill>
                <a:latin typeface="Times New Roman" panose="02020603050405020304" pitchFamily="18" charset="0"/>
                <a:ea typeface="Krona One" pitchFamily="34" charset="-122"/>
                <a:cs typeface="Times New Roman" panose="02020603050405020304" pitchFamily="18" charset="0"/>
              </a:rPr>
              <a:t>Morphology and </a:t>
            </a:r>
            <a:r>
              <a:rPr lang="en-US" sz="4000" b="1" kern="100" spc="-108" dirty="0">
                <a:solidFill>
                  <a:schemeClr val="bg1"/>
                </a:solidFill>
                <a:latin typeface="Times New Roman" panose="02020603050405020304" pitchFamily="18" charset="0"/>
                <a:ea typeface="Krona One" pitchFamily="34" charset="-122"/>
                <a:cs typeface="Times New Roman" panose="02020603050405020304" pitchFamily="18" charset="0"/>
              </a:rPr>
              <a:t>Word Formation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kern="100" spc="-108" dirty="0">
                <a:solidFill>
                  <a:srgbClr val="FFFFFF"/>
                </a:solidFill>
                <a:latin typeface="Times New Roman" panose="02020603050405020304" pitchFamily="18" charset="0"/>
                <a:ea typeface="Krona One" pitchFamily="34" charset="-122"/>
                <a:cs typeface="Times New Roman" panose="02020603050405020304" pitchFamily="18" charset="0"/>
              </a:rPr>
              <a:t>in Natural Languages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3ED4C6-610E-4753-B289-CEDFB87E34B9}"/>
              </a:ext>
            </a:extLst>
          </p:cNvPr>
          <p:cNvSpPr/>
          <p:nvPr/>
        </p:nvSpPr>
        <p:spPr>
          <a:xfrm>
            <a:off x="708917" y="4263776"/>
            <a:ext cx="3544584" cy="111988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Presented By: -G. Akshya</a:t>
            </a:r>
          </a:p>
          <a:p>
            <a:pPr algn="ctr"/>
            <a:r>
              <a:rPr lang="en-US" dirty="0"/>
              <a:t>192425132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2D9C5B-0C9F-4942-BCC6-70513A7CCDA0}"/>
              </a:ext>
            </a:extLst>
          </p:cNvPr>
          <p:cNvSpPr/>
          <p:nvPr/>
        </p:nvSpPr>
        <p:spPr>
          <a:xfrm>
            <a:off x="7243281" y="4263776"/>
            <a:ext cx="3133618" cy="119180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Guided By: -Dr. Ramkumar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612640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BUILDING BLOCKS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369889"/>
            <a:ext cx="55168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Words are built from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chemeClr val="bg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meaningful parts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2275284"/>
            <a:ext cx="5516821" cy="1639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Morphology studies the internal structure of words.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Meaningful units are called morphemes.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Morphological processing supports grammar, meaning, and word relationships.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50269" y="1128514"/>
            <a:ext cx="3931841" cy="1121966"/>
          </a:xfrm>
          <a:prstGeom prst="roundRect">
            <a:avLst>
              <a:gd name="adj" fmla="val 8082"/>
            </a:avLst>
          </a:prstGeom>
          <a:solidFill>
            <a:schemeClr val="tx2">
              <a:lumMod val="60000"/>
              <a:lumOff val="40000"/>
            </a:schemeClr>
          </a:solidFill>
          <a:ln w="25399">
            <a:solidFill>
              <a:srgbClr val="3887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4262" y="1389499"/>
            <a:ext cx="367784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PREFIX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04262" y="1663144"/>
            <a:ext cx="342385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un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650269" y="2402880"/>
            <a:ext cx="3931841" cy="1121966"/>
          </a:xfrm>
          <a:prstGeom prst="roundRect">
            <a:avLst>
              <a:gd name="adj" fmla="val 8082"/>
            </a:avLst>
          </a:prstGeom>
          <a:solidFill>
            <a:schemeClr val="accent1">
              <a:lumMod val="75000"/>
            </a:schemeClr>
          </a:solidFill>
          <a:ln w="25399">
            <a:solidFill>
              <a:srgbClr val="3887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4262" y="2663865"/>
            <a:ext cx="367784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ROOT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04262" y="2937510"/>
            <a:ext cx="342385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happy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650269" y="3677245"/>
            <a:ext cx="3931841" cy="1121966"/>
          </a:xfrm>
          <a:prstGeom prst="roundRect">
            <a:avLst>
              <a:gd name="adj" fmla="val 8082"/>
            </a:avLst>
          </a:prstGeom>
          <a:solidFill>
            <a:schemeClr val="accent1">
              <a:lumMod val="40000"/>
              <a:lumOff val="60000"/>
            </a:schemeClr>
          </a:solidFill>
          <a:ln w="25399">
            <a:solidFill>
              <a:srgbClr val="3887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4262" y="3938230"/>
            <a:ext cx="367784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SUFFIX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4262" y="4211876"/>
            <a:ext cx="342385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ness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50269" y="4996061"/>
            <a:ext cx="393184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20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unhappiness</a:t>
            </a: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un + happy + ness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243833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MORPHOLOGICAL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2106489"/>
            <a:ext cx="2438339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Structure becomes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chemeClr val="bg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visible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3371175"/>
            <a:ext cx="243833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a layered decomposition of </a:t>
            </a: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UNHAPPINESS</a:t>
            </a: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267093" y="734913"/>
            <a:ext cx="2133547" cy="2060773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/>
          <p:nvPr/>
        </p:nvSpPr>
        <p:spPr>
          <a:xfrm>
            <a:off x="4495688" y="96351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95688" y="1265734"/>
            <a:ext cx="1676358" cy="1905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8" name="Text 6"/>
          <p:cNvSpPr/>
          <p:nvPr/>
        </p:nvSpPr>
        <p:spPr>
          <a:xfrm>
            <a:off x="4495688" y="1421249"/>
            <a:ext cx="190495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4EFE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PREFIX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95688" y="1705248"/>
            <a:ext cx="1676358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un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95688" y="2256750"/>
            <a:ext cx="190495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= prefix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7828" y="734913"/>
            <a:ext cx="2133547" cy="20607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7086423" y="96351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086423" y="1265734"/>
            <a:ext cx="1676358" cy="1905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423" y="1421249"/>
            <a:ext cx="190495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423" y="1705248"/>
            <a:ext cx="1676358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happy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86423" y="2256750"/>
            <a:ext cx="190495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happy = root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448564" y="734913"/>
            <a:ext cx="2133547" cy="206077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18" name="Text 16"/>
          <p:cNvSpPr/>
          <p:nvPr/>
        </p:nvSpPr>
        <p:spPr>
          <a:xfrm>
            <a:off x="9677158" y="96351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677158" y="1265734"/>
            <a:ext cx="1676358" cy="1905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20" name="Text 18"/>
          <p:cNvSpPr/>
          <p:nvPr/>
        </p:nvSpPr>
        <p:spPr>
          <a:xfrm>
            <a:off x="9677158" y="1421249"/>
            <a:ext cx="190495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4EFE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SUFFIX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77158" y="1705248"/>
            <a:ext cx="1676358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ness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77158" y="2256750"/>
            <a:ext cx="190495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ness = suffix</a:t>
            </a:r>
            <a:endParaRPr lang="en-US" sz="17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3" y="3024287"/>
            <a:ext cx="431789" cy="431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5061" y="3144937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914777" y="3026985"/>
            <a:ext cx="666733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word</a:t>
            </a:r>
            <a:endParaRPr lang="en-US" sz="17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3913287"/>
            <a:ext cx="431789" cy="4318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575061" y="4033937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4914777" y="3915985"/>
            <a:ext cx="666733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morphemes</a:t>
            </a:r>
            <a:endParaRPr lang="en-US" sz="17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3" y="4802287"/>
            <a:ext cx="431789" cy="4318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575061" y="4922937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4914777" y="4804985"/>
            <a:ext cx="666733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Locate the root</a:t>
            </a:r>
            <a:endParaRPr lang="en-US" sz="17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3" y="5691287"/>
            <a:ext cx="431789" cy="4318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575061" y="5811937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4914777" y="5693985"/>
            <a:ext cx="666733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linguistic features</a:t>
            </a:r>
            <a:endParaRPr lang="en-US" sz="1700" dirty="0"/>
          </a:p>
        </p:txBody>
      </p:sp>
      <p:sp>
        <p:nvSpPr>
          <p:cNvPr id="35" name="Shape 29"/>
          <p:cNvSpPr/>
          <p:nvPr/>
        </p:nvSpPr>
        <p:spPr>
          <a:xfrm>
            <a:off x="4267093" y="3678337"/>
            <a:ext cx="7315017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36" name="Shape 30"/>
          <p:cNvSpPr/>
          <p:nvPr/>
        </p:nvSpPr>
        <p:spPr>
          <a:xfrm>
            <a:off x="4267093" y="4567337"/>
            <a:ext cx="7315017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37" name="Shape 31"/>
          <p:cNvSpPr/>
          <p:nvPr/>
        </p:nvSpPr>
        <p:spPr>
          <a:xfrm>
            <a:off x="4267093" y="5456337"/>
            <a:ext cx="7315017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414525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 PIPELINES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369889"/>
            <a:ext cx="3535671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NLP pipelines turn word structure into language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118" y="609600"/>
            <a:ext cx="5912992" cy="2515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text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Tokenization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Morphological analysis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Morpheme segmentation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Root or lemma extraction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Linguistic features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7"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 applications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118" y="3321070"/>
            <a:ext cx="591299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Machine translation · search · spell checking · speech recognition · chatbots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243833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FINITE-STATE MODELS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738189"/>
            <a:ext cx="2438339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Lexical forms connect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to </a:t>
            </a:r>
            <a:r>
              <a:rPr lang="en-US" sz="2600" kern="100" spc="-78" dirty="0">
                <a:solidFill>
                  <a:schemeClr val="bg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surface forms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091" y="1117699"/>
            <a:ext cx="6478922" cy="279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22687" y="1437731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-37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Lexical Input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122687" y="2085624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-37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Apply Rules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22687" y="2727039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-37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Surface Output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22687" y="3368453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-37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67093" y="4118610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FSA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267093" y="4610219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Recognizes valid morphological patterns.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53196" y="4118610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FST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153196" y="4610219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Maps lexical forms to surface forms.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962301" y="5429964"/>
            <a:ext cx="792460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cat + PLURAL → cats</a:t>
            </a: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studies → studi</a:t>
            </a: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studies → study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18252" y="4105275"/>
            <a:ext cx="12700" cy="1128316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1158211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CASE STUDY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369889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Analyzing </a:t>
            </a:r>
            <a:r>
              <a:rPr lang="en-US" sz="2600" kern="100" spc="-78" dirty="0">
                <a:solidFill>
                  <a:schemeClr val="bg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“unhappiness”</a:t>
            </a:r>
            <a:endParaRPr lang="en-US" sz="2600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18692"/>
          <a:ext cx="10972525" cy="2733506"/>
        </p:xfrm>
        <a:graphic>
          <a:graphicData uri="http://schemas.openxmlformats.org/drawingml/2006/table">
            <a:tbl>
              <a:tblPr/>
              <a:tblGrid>
                <a:gridCol w="219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4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Role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Contribution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prefix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Attached before the root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happy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root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Main meaningful part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ness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derivational suffix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Attached after the root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622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unhappiness → un + happy + ness → prefix + root + suffix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807367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Compare: </a:t>
            </a: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cats</a:t>
            </a: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cat + s · </a:t>
            </a: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played</a:t>
            </a: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play + ed · </a:t>
            </a: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teacher</a:t>
            </a: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teach + er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1158211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 · SYNTHESIS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369889"/>
            <a:ext cx="1097252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Morphology strengthens language understanding, but remains </a:t>
            </a:r>
            <a:r>
              <a:rPr lang="en-US" sz="2600" kern="100" spc="-78" dirty="0">
                <a:solidFill>
                  <a:schemeClr val="bg1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challenging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2517219"/>
            <a:ext cx="533386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Applications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9585" y="3008828"/>
            <a:ext cx="533386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translation, information retrieval, sentiment analysis, speech processing, grammar checking, text classification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48244" y="2517219"/>
            <a:ext cx="533386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Challenges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48244" y="3008828"/>
            <a:ext cx="533386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Irregular words, ambiguity, language-specific rules, and rich morphology in Indian languages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585" y="4478635"/>
            <a:ext cx="10972526" cy="158551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4720570"/>
            <a:ext cx="1051533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179" y="5212179"/>
            <a:ext cx="105153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morphology helps NLP systems analyze words accurately and improve language understanding.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slide Images - Free Download on Magnific (formerly ...">
            <a:extLst>
              <a:ext uri="{FF2B5EF4-FFF2-40B4-BE49-F238E27FC236}">
                <a16:creationId xmlns:a16="http://schemas.microsoft.com/office/drawing/2014/main" id="{0BAC7FC7-0423-41D3-9DE9-C66FDDF70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347" y="275904"/>
            <a:ext cx="7048500" cy="4991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28687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521</Words>
  <Application>Microsoft Office PowerPoint</Application>
  <PresentationFormat>Widescreen</PresentationFormat>
  <Paragraphs>102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Krona One</vt:lpstr>
      <vt:lpstr>Times New Roman</vt:lpstr>
      <vt:lpstr>Calibri</vt:lpstr>
      <vt:lpstr>Azeret Mono SemiBold</vt:lpstr>
      <vt:lpstr>Azeret Mono Medium</vt:lpstr>
      <vt:lpstr>Arial</vt:lpstr>
      <vt:lpstr>Open Sans Bold</vt:lpstr>
      <vt:lpstr>Open Sans SemiBold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Reddy</dc:creator>
  <cp:lastModifiedBy>T G Dileepkumar</cp:lastModifiedBy>
  <cp:revision>4</cp:revision>
  <dcterms:created xsi:type="dcterms:W3CDTF">2026-10-07T08:45:14Z</dcterms:created>
  <dcterms:modified xsi:type="dcterms:W3CDTF">2026-10-12T06:19:40Z</dcterms:modified>
</cp:coreProperties>
</file>